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560320" cy="256032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BITU3973 – Final Year Project 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Cognitive &amp; Educational Skill Support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114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Aliff bin Affandi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B032420067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Dr. Zuraini binti Othman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 Teknikal Malaysia Melaka (UTeM)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017520" y="365760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82112" y="36576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261872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E8F4F6"/>
          </a:solidFill>
          <a:ln w="12700">
            <a:solidFill>
              <a:srgbClr val="B0D8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82112" y="1261872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Research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2157984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2157984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Project Scope — Target Users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3054096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E8F4F6"/>
          </a:solidFill>
          <a:ln w="12700">
            <a:solidFill>
              <a:srgbClr val="B0D8D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82112" y="3054096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Project Scope — Core System Modules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0" y="3950208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82112" y="3950208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Project Significance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0EA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30759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07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33832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e-learning platforms are not designed for learners with disabilities, using formats that overwhelm cognitive and sensory processing — leading to high dropout rates.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0EA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73752" y="130759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307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252728"/>
            <a:ext cx="33832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with disabilities lack platforms that adapt to individual learning pace and present content in accessible, easy-to-process formats.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0EA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318211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127248"/>
            <a:ext cx="33832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and support organisations cannot reliably verify skills gained by learners with disabilities due to absent progress tracking and accessible certification.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0EA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73752" y="318211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3127248"/>
            <a:ext cx="33832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lack a centralised platform to monitor learner progress, identify those needing extra support, and manage accessible learning materials.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F0F9FB"/>
          </a:solidFill>
          <a:ln w="12700">
            <a:solidFill>
              <a:srgbClr val="C0DD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— Analyse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20240" y="1161288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requirements, learning challenges, and content delivery needs of learners with dyslexia, ADHD, and mild cognitive impairment through literature review and comparative study.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EAF6F8"/>
          </a:solidFill>
          <a:ln w="12700">
            <a:solidFill>
              <a:srgbClr val="C0DD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75688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75688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— Develop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2121408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accessible web-based e-learning platform with rule-based adaptive content delivery, built-in TTS, adjustable accessibility settings, and role-based user management.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35808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F0F9FB"/>
          </a:solidFill>
          <a:ln w="12700">
            <a:solidFill>
              <a:srgbClr val="C0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35808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35808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— Implement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20240" y="3081528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certificate generation module and educator analytics dashboard for verifiable skill records and data-driven monitoring of individual learner progress.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995928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EAF6F8"/>
          </a:solidFill>
          <a:ln w="12700">
            <a:solidFill>
              <a:srgbClr val="C0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95928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95928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— Evaluate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4041648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correctness, usability, and accessibility through structured walkthroughs and expert review.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097280"/>
            <a:ext cx="2816352" cy="379476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234440"/>
            <a:ext cx="768096" cy="7680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316736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210312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0624" y="254203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consumers of educational content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0624" y="306324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optimised for neurodivergent individuals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0624" y="358444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calm, and predictable learning environment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0624" y="410565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beneficial for neurotypical users as well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097280"/>
            <a:ext cx="2816352" cy="379476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24528" y="1234440"/>
            <a:ext cx="768096" cy="7680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16736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10312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Educators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64992" y="254203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creators and content administrators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64992" y="306324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intuitive tools for accessible authoring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64992" y="358444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media assets and learning modules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64992" y="410565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track individual student progress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44768" y="1097280"/>
            <a:ext cx="2816352" cy="379476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68896" y="1234440"/>
            <a:ext cx="768096" cy="76809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1316736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36208" y="210312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09360" y="254203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operators and platform governance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309360" y="306324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 and permission management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309360" y="358444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accessibility configuration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309360" y="410565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health and usage oversight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Modules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" y="148132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517904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2070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Profile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41832" y="153619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roles, email verification &amp; profile management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063240" y="1078992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91256" y="148132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51790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76472" y="12070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Engine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776472" y="153619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cognitive profiles: font, spacing, TTS, focus mode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897880" y="1078992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25896" y="148132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517904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11112" y="12070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Learning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611112" y="153619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for revision, standard, or advanced paths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28600" y="2505456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56616" y="2907792"/>
            <a:ext cx="493776" cy="493776"/>
          </a:xfrm>
          <a:prstGeom prst="ellipse">
            <a:avLst/>
          </a:prstGeom>
          <a:solidFill>
            <a:srgbClr val="5B4FA8"/>
          </a:solidFill>
          <a:ln w="12700">
            <a:solidFill>
              <a:srgbClr val="5B4F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94436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" y="26334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Educator Authoring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41832" y="296265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chapter &amp; quiz builder with version history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063240" y="2505456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91256" y="2907792"/>
            <a:ext cx="493776" cy="493776"/>
          </a:xfrm>
          <a:prstGeom prst="ellipse">
            <a:avLst/>
          </a:prstGeom>
          <a:solidFill>
            <a:srgbClr val="5B4FA8"/>
          </a:solidFill>
          <a:ln w="12700">
            <a:solidFill>
              <a:srgbClr val="5B4FA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832" y="2944368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76472" y="26334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Module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776472" y="296265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quizzes, auto-grading, attempts &amp; remedial triggers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897880" y="2505456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25896" y="2907792"/>
            <a:ext cx="493776" cy="493776"/>
          </a:xfrm>
          <a:prstGeom prst="ellipse">
            <a:avLst/>
          </a:prstGeom>
          <a:solidFill>
            <a:srgbClr val="5B4FA8"/>
          </a:solidFill>
          <a:ln w="12700">
            <a:solidFill>
              <a:srgbClr val="5B4FA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2944368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11112" y="26334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Content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611112" y="296265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builders, time-coded video questions &amp; content blocks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228600" y="3931920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56616" y="4334256"/>
            <a:ext cx="493776" cy="493776"/>
          </a:xfrm>
          <a:prstGeom prst="ellipse">
            <a:avLst/>
          </a:prstGeom>
          <a:solidFill>
            <a:srgbClr val="B07A15"/>
          </a:solidFill>
          <a:ln w="12700">
            <a:solidFill>
              <a:srgbClr val="B07A15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4370832"/>
            <a:ext cx="420624" cy="4206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41832" y="40599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Telemetry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941832" y="438912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dashboards, at-risk detection &amp; platform metrics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3063240" y="3931920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3191256" y="4334256"/>
            <a:ext cx="493776" cy="493776"/>
          </a:xfrm>
          <a:prstGeom prst="ellipse">
            <a:avLst/>
          </a:prstGeom>
          <a:solidFill>
            <a:srgbClr val="B07A15"/>
          </a:solidFill>
          <a:ln w="12700">
            <a:solidFill>
              <a:srgbClr val="B07A15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7832" y="4370832"/>
            <a:ext cx="420624" cy="42062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76472" y="40599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Certificates &amp; Badges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3776472" y="438912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 and motivational badge system on completion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5897880" y="3931920"/>
            <a:ext cx="2743200" cy="1298448"/>
          </a:xfrm>
          <a:prstGeom prst="roundRect">
            <a:avLst>
              <a:gd name="adj" fmla="val 6338"/>
            </a:avLst>
          </a:prstGeom>
          <a:solidFill>
            <a:srgbClr val="F7FCFD"/>
          </a:solidFill>
          <a:ln w="12700">
            <a:solidFill>
              <a:srgbClr val="C8E8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6025896" y="4334256"/>
            <a:ext cx="493776" cy="493776"/>
          </a:xfrm>
          <a:prstGeom prst="ellipse">
            <a:avLst/>
          </a:prstGeom>
          <a:solidFill>
            <a:srgbClr val="B07A15"/>
          </a:solidFill>
          <a:ln w="12700">
            <a:solidFill>
              <a:srgbClr val="B07A15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472" y="4370832"/>
            <a:ext cx="420624" cy="42062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611112" y="40599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6611112" y="438912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discussions, contact form &amp; database-driven alerts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Significance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115568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70992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" y="1746504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12527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Equity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8408" y="1618488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 accessibility burden from the user to the system architecture — neurodivergent learners focus on learning, not on navigating the interface.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1115568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70992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746504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2527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Learner-Centred Design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931920" y="1618488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calm, predictable, and highly customizable environment that mitigates anxiety and cognitive fatigue for learners with disabilities.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08192" y="1115568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5352" y="1709928"/>
            <a:ext cx="548640" cy="5486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746504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85432" y="12527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Educator Insights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885432" y="1618488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toolset that enforces accessibility best practices during content creation, with deep analytical insights into student engagement.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01168" y="3035808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38328" y="3630168"/>
            <a:ext cx="548640" cy="548640"/>
          </a:xfrm>
          <a:prstGeom prst="ellipse">
            <a:avLst/>
          </a:prstGeom>
          <a:solidFill>
            <a:srgbClr val="145A4C"/>
          </a:solidFill>
          <a:ln w="12700">
            <a:solidFill>
              <a:srgbClr val="145A4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3666744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8408" y="3172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Certification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78408" y="3538728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for employers and support organisations with reliable skill records and verifiable completion certificates.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54680" y="3035808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363016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666744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172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Architecture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931920" y="3538728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modern web architecture (Next.js, Supabase, WCAG 2.2 AA, UDL 3.0) can create a truly inclusive educational ecosystem.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08192" y="3035808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0F9FB"/>
          </a:solidFill>
          <a:ln w="12700">
            <a:solidFill>
              <a:srgbClr val="C8E6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45352" y="363016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666744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85432" y="31729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Applicability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885432" y="3538728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in both physical classrooms and remote learning scenarios — inclusive by design, beneficial to all.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Aliff bin Affandi  |  B032420067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Ts. Dr. Zuraini binti Othman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BITU3973 Final Year Project I  •  UTeM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ACESS – Adaptive Cognitive &amp; Educational Skill Support Platform</dc:title>
  <dc:subject>PptxGenJS Presentation</dc:subject>
  <dc:creator>Muhammad Aliff bin Affandi</dc:creator>
  <cp:lastModifiedBy>Muhammad Aliff bin Affandi</cp:lastModifiedBy>
  <cp:revision>1</cp:revision>
  <dcterms:created xsi:type="dcterms:W3CDTF">2026-06-26T00:18:05Z</dcterms:created>
  <dcterms:modified xsi:type="dcterms:W3CDTF">2026-06-26T00:18:05Z</dcterms:modified>
</cp:coreProperties>
</file>